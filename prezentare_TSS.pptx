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2A51-FACB-6320-0411-B0190FAD6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442C8-5BBB-2E2D-BB18-4450BA711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EAAB0-C4AE-593D-64FA-93F5EBA8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F103A-5481-78CA-9A22-C394B080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37E30-DE02-69D8-49DF-7575763C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91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3205-D417-2F5B-1A6B-AB8866F2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3265-426C-B704-B31D-8F58D4241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C72A-0CBB-8E66-03B8-FCFEBB25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699A5-761E-94FF-DB4B-878D7C35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7B62-C524-A5AA-B1EC-0A33D7C3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0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E66D-EB1A-A8B1-7B2A-0EADA63A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C7B4E-7F59-AB80-1116-A311B03D5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3B733-A62C-F2FA-927D-75396F38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1F3C-EB86-E893-1585-B64C7395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F510-EF70-7161-9510-A7FBD4C0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6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F290-80A9-68EE-82E8-6EFAD02E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72544-F668-4C0B-3A0C-0FC2DE66D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EA059-12EA-F218-8116-32E82EE72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25BC4-86A9-19EE-766F-0133A9B6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3EE26-F93F-C8C4-8D2A-365A8D48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70168-8497-C70E-1D39-69429EEA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1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B441-E4BC-65D1-A91F-79320627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D56E0-720D-7253-6113-CA7BC6C3D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D8330-54AA-15F4-0303-5F71F8F3C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FA4B5-6436-E52F-A694-EF8A7AE92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727EB-1DBD-536C-D273-854A58833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CB636-EB0B-193E-2882-00093356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4D9AD-1668-5D56-FCAF-0D45B18E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18B3C-9FB6-7185-9E9E-25191D25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9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3286-CD6A-44D9-53E2-8F4A2405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FD1BD-5FF4-F221-A339-AE4CDEEC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617FA-C206-0905-CE54-4C3B31AC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8FA18-C467-72FB-B7B7-FF4EA85C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6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89733-3EC4-45CA-3AC2-86D75E97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267E7-CE53-0028-88D2-C717EE49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422CC-162E-89E9-4571-7BB598B4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825A-7D50-DFD8-C058-7450A228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89EA7-24E8-A191-891E-44039F07A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49388-52F3-434F-57E4-F15D9C491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FD28-A68D-381C-84FC-76FCF46C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436B-924D-0785-2D19-71FF04547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6FD0B-4A3F-50E4-9B0E-841EECD7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4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72A1-DFA9-06FD-DEE8-B808AD543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060D97-CDF9-ADDA-A61D-E32F8EE33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A8DB7-4542-B18B-7C8B-03E09FE85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40E6A-E935-D2E8-EA1A-9275B33F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131D8-4FD8-4C5B-A0D1-96AC0147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3FA16-EA60-A2E4-761F-F457428C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2BD3-C118-B003-A7A3-155494AD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66347-B563-DCE6-5B54-4BAF06EF4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EE75D-96DD-5DC8-C8F4-D31AFC89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31CDE-B175-7B62-784F-513CAF4E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940B4-F99F-EF4A-2DB1-D1018852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7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04D5A0-6769-4102-0F1A-5FF1A46B2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CFD27-0008-AA0C-A636-F9F01CB73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CAE66-B56E-A793-0461-6CFAD6A0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FC0FF-A453-4DCA-1EC2-B45A5958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D07EC-2D90-83F0-A176-26F4C44F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4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52E62-B023-7D1E-B7A2-1E283401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956A1-E48B-2869-BA63-665F01143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EDB53-02C5-E9A9-3CF8-90A2D87FDB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144AF-8E8C-4853-A4AF-B0ABC7476227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F59F-AF7D-E3B1-2EB7-8B7A06C55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C2C2-E29A-097A-7302-E2B1BC44F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55FA7-F3C4-4B33-84D9-8764393F3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FF51-3CBB-6EDF-6190-DB32900F9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15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unitara</a:t>
            </a:r>
            <a:r>
              <a:rPr lang="en-US" dirty="0"/>
              <a:t> in Python</a:t>
            </a:r>
            <a:br>
              <a:rPr lang="en-US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6E472-A2FB-F597-D9C2-DF836FAD2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2579"/>
            <a:ext cx="9144000" cy="213522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100" dirty="0" err="1"/>
              <a:t>Descriere</a:t>
            </a:r>
            <a:r>
              <a:rPr lang="en-US" sz="3100" dirty="0"/>
              <a:t>:</a:t>
            </a:r>
          </a:p>
          <a:p>
            <a:pPr algn="l"/>
            <a:r>
              <a:rPr lang="en-US" dirty="0" err="1"/>
              <a:t>Aplicatia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un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monitorizare</a:t>
            </a:r>
            <a:r>
              <a:rPr lang="en-US" dirty="0"/>
              <a:t> a </a:t>
            </a:r>
            <a:r>
              <a:rPr lang="en-US" dirty="0" err="1"/>
              <a:t>temperaturilor</a:t>
            </a:r>
            <a:r>
              <a:rPr lang="en-US" dirty="0"/>
              <a:t> </a:t>
            </a:r>
            <a:r>
              <a:rPr lang="en-US" dirty="0" err="1"/>
              <a:t>inregistrate</a:t>
            </a:r>
            <a:r>
              <a:rPr lang="en-US" dirty="0"/>
              <a:t> de </a:t>
            </a:r>
            <a:r>
              <a:rPr lang="en-US" dirty="0" err="1"/>
              <a:t>senzorii</a:t>
            </a:r>
            <a:r>
              <a:rPr lang="en-US" dirty="0"/>
              <a:t> a 6 </a:t>
            </a:r>
            <a:r>
              <a:rPr lang="en-US" dirty="0" err="1"/>
              <a:t>frigidere</a:t>
            </a:r>
            <a:r>
              <a:rPr lang="en-US" dirty="0"/>
              <a:t>, </a:t>
            </a:r>
            <a:r>
              <a:rPr lang="en-US" dirty="0" err="1"/>
              <a:t>determinand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 sunt </a:t>
            </a:r>
            <a:r>
              <a:rPr lang="en-US" dirty="0" err="1"/>
              <a:t>critice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nu, in </a:t>
            </a:r>
            <a:r>
              <a:rPr lang="en-US" dirty="0" err="1"/>
              <a:t>functie</a:t>
            </a:r>
            <a:r>
              <a:rPr lang="en-US" dirty="0"/>
              <a:t> de un </a:t>
            </a:r>
            <a:r>
              <a:rPr lang="en-US" dirty="0" err="1"/>
              <a:t>prag</a:t>
            </a:r>
            <a:r>
              <a:rPr lang="en-US" dirty="0"/>
              <a:t> de </a:t>
            </a:r>
            <a:r>
              <a:rPr lang="en-US" dirty="0" err="1"/>
              <a:t>alerta</a:t>
            </a:r>
            <a:r>
              <a:rPr lang="en-US" dirty="0"/>
              <a:t> </a:t>
            </a:r>
            <a:r>
              <a:rPr lang="en-US" dirty="0" err="1"/>
              <a:t>specificat</a:t>
            </a:r>
            <a:r>
              <a:rPr lang="en-US" dirty="0"/>
              <a:t>.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temperaturi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pragul</a:t>
            </a:r>
            <a:r>
              <a:rPr lang="en-US" dirty="0"/>
              <a:t> de </a:t>
            </a:r>
            <a:r>
              <a:rPr lang="en-US" dirty="0" err="1"/>
              <a:t>alerta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valid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temperaturilor</a:t>
            </a:r>
            <a:r>
              <a:rPr lang="en-US" dirty="0"/>
              <a:t> sunt in </a:t>
            </a:r>
            <a:r>
              <a:rPr lang="en-US" dirty="0" err="1"/>
              <a:t>intervalul</a:t>
            </a:r>
            <a:r>
              <a:rPr lang="en-US" dirty="0"/>
              <a:t> </a:t>
            </a:r>
            <a:r>
              <a:rPr lang="en-US" dirty="0" err="1"/>
              <a:t>permis</a:t>
            </a:r>
            <a:r>
              <a:rPr lang="en-US" dirty="0"/>
              <a:t>:       [-150, 0] grade. Daca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conditiile</a:t>
            </a:r>
            <a:r>
              <a:rPr lang="en-US" dirty="0"/>
              <a:t> sunt </a:t>
            </a:r>
            <a:r>
              <a:rPr lang="en-US" dirty="0" err="1"/>
              <a:t>indeplinite</a:t>
            </a:r>
            <a:r>
              <a:rPr lang="en-US" dirty="0"/>
              <a:t>, se </a:t>
            </a:r>
            <a:r>
              <a:rPr lang="en-US" dirty="0" err="1"/>
              <a:t>returneaza</a:t>
            </a:r>
            <a:r>
              <a:rPr lang="en-US" dirty="0"/>
              <a:t> media </a:t>
            </a:r>
            <a:r>
              <a:rPr lang="en-US" dirty="0" err="1"/>
              <a:t>temperaturilor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critice</a:t>
            </a:r>
            <a:r>
              <a:rPr lang="en-US" dirty="0"/>
              <a:t> (</a:t>
            </a:r>
            <a:r>
              <a:rPr lang="en-US" dirty="0" err="1"/>
              <a:t>temperaturi</a:t>
            </a:r>
            <a:r>
              <a:rPr lang="en-US" dirty="0"/>
              <a:t> care </a:t>
            </a:r>
            <a:r>
              <a:rPr lang="en-US" dirty="0" err="1"/>
              <a:t>depasesc</a:t>
            </a:r>
            <a:r>
              <a:rPr lang="en-US" dirty="0"/>
              <a:t> </a:t>
            </a:r>
            <a:r>
              <a:rPr lang="en-US" dirty="0" err="1"/>
              <a:t>pragul</a:t>
            </a:r>
            <a:r>
              <a:rPr lang="en-US" dirty="0"/>
              <a:t> de </a:t>
            </a:r>
            <a:r>
              <a:rPr lang="en-US" dirty="0" err="1"/>
              <a:t>alerta</a:t>
            </a:r>
            <a:r>
              <a:rPr lang="en-US" dirty="0"/>
              <a:t>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E4913-EB20-77F4-36B7-BC7CE361A647}"/>
              </a:ext>
            </a:extLst>
          </p:cNvPr>
          <p:cNvSpPr txBox="1"/>
          <p:nvPr/>
        </p:nvSpPr>
        <p:spPr>
          <a:xfrm>
            <a:off x="6096000" y="1895141"/>
            <a:ext cx="3641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Moise Irina, </a:t>
            </a:r>
            <a:r>
              <a:rPr lang="en-US" sz="2800" dirty="0" err="1"/>
              <a:t>grupa</a:t>
            </a:r>
            <a:r>
              <a:rPr lang="en-US" sz="2800" dirty="0"/>
              <a:t> 342</a:t>
            </a:r>
          </a:p>
        </p:txBody>
      </p:sp>
    </p:spTree>
    <p:extLst>
      <p:ext uri="{BB962C8B-B14F-4D97-AF65-F5344CB8AC3E}">
        <p14:creationId xmlns:p14="http://schemas.microsoft.com/office/powerpoint/2010/main" val="136542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A03E-C0E5-964B-C431-01D09FB5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Specificatie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D24BF-2415-13BA-D068-CECD42B54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Serviciul </a:t>
            </a:r>
            <a:r>
              <a:rPr lang="en-US" sz="3200" dirty="0" err="1"/>
              <a:t>ar</a:t>
            </a:r>
            <a:r>
              <a:rPr lang="en-US" sz="3200" dirty="0"/>
              <a:t> </a:t>
            </a:r>
            <a:r>
              <a:rPr lang="en-US" sz="3200" dirty="0" err="1"/>
              <a:t>trebui</a:t>
            </a:r>
            <a:r>
              <a:rPr lang="en-US" sz="3200" dirty="0"/>
              <a:t>:</a:t>
            </a:r>
          </a:p>
          <a:p>
            <a:r>
              <a:rPr lang="en-US" dirty="0"/>
              <a:t>Sa </a:t>
            </a:r>
            <a:r>
              <a:rPr lang="en-US" dirty="0" err="1"/>
              <a:t>returneze</a:t>
            </a:r>
            <a:r>
              <a:rPr lang="en-US" dirty="0"/>
              <a:t> </a:t>
            </a:r>
            <a:r>
              <a:rPr lang="en-US" dirty="0" err="1"/>
              <a:t>mereu</a:t>
            </a:r>
            <a:r>
              <a:rPr lang="en-US" dirty="0"/>
              <a:t> o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valida</a:t>
            </a:r>
            <a:r>
              <a:rPr lang="en-US" dirty="0"/>
              <a:t>.</a:t>
            </a:r>
          </a:p>
          <a:p>
            <a:r>
              <a:rPr lang="en-US" dirty="0"/>
              <a:t>Sa </a:t>
            </a:r>
            <a:r>
              <a:rPr lang="en-US" dirty="0" err="1"/>
              <a:t>arunce</a:t>
            </a:r>
            <a:r>
              <a:rPr lang="en-US" dirty="0"/>
              <a:t> o </a:t>
            </a:r>
            <a:r>
              <a:rPr lang="en-US" dirty="0" err="1"/>
              <a:t>eroare</a:t>
            </a:r>
            <a:r>
              <a:rPr lang="en-US" dirty="0"/>
              <a:t> in </a:t>
            </a:r>
            <a:r>
              <a:rPr lang="en-US" dirty="0" err="1"/>
              <a:t>cazuri</a:t>
            </a:r>
            <a:r>
              <a:rPr lang="en-US" dirty="0"/>
              <a:t> </a:t>
            </a:r>
            <a:r>
              <a:rPr lang="en-US" dirty="0" err="1"/>
              <a:t>invalide</a:t>
            </a:r>
            <a:r>
              <a:rPr lang="en-US" dirty="0"/>
              <a:t>.</a:t>
            </a:r>
          </a:p>
          <a:p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temperaturi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exact 6.</a:t>
            </a:r>
          </a:p>
          <a:p>
            <a:r>
              <a:rPr lang="en-US" dirty="0" err="1"/>
              <a:t>Pragul</a:t>
            </a:r>
            <a:r>
              <a:rPr lang="en-US" dirty="0"/>
              <a:t> de </a:t>
            </a:r>
            <a:r>
              <a:rPr lang="en-US" dirty="0" err="1"/>
              <a:t>alerta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mai</a:t>
            </a:r>
            <a:r>
              <a:rPr lang="en-US" dirty="0"/>
              <a:t> mic </a:t>
            </a:r>
            <a:r>
              <a:rPr lang="en-US" dirty="0" err="1"/>
              <a:t>sau</a:t>
            </a:r>
            <a:r>
              <a:rPr lang="en-US" dirty="0"/>
              <a:t> egal cu -50.</a:t>
            </a:r>
          </a:p>
          <a:p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temperaturilor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in </a:t>
            </a:r>
            <a:r>
              <a:rPr lang="en-US" dirty="0" err="1"/>
              <a:t>intervalul</a:t>
            </a:r>
            <a:r>
              <a:rPr lang="en-US" dirty="0"/>
              <a:t> [-150, 0].</a:t>
            </a:r>
          </a:p>
          <a:p>
            <a:r>
              <a:rPr lang="en-US" dirty="0" err="1"/>
              <a:t>Temperaturile</a:t>
            </a:r>
            <a:r>
              <a:rPr lang="en-US" dirty="0"/>
              <a:t> </a:t>
            </a:r>
            <a:r>
              <a:rPr lang="en-US" dirty="0" err="1"/>
              <a:t>critice</a:t>
            </a:r>
            <a:r>
              <a:rPr lang="en-US" dirty="0"/>
              <a:t> sunt </a:t>
            </a:r>
            <a:r>
              <a:rPr lang="en-US" dirty="0" err="1"/>
              <a:t>cele</a:t>
            </a:r>
            <a:r>
              <a:rPr lang="en-US" dirty="0"/>
              <a:t> care </a:t>
            </a:r>
            <a:r>
              <a:rPr lang="en-US" dirty="0" err="1"/>
              <a:t>depasesc</a:t>
            </a:r>
            <a:r>
              <a:rPr lang="en-US" dirty="0"/>
              <a:t> </a:t>
            </a:r>
            <a:r>
              <a:rPr lang="en-US" dirty="0" err="1"/>
              <a:t>pragul</a:t>
            </a:r>
            <a:r>
              <a:rPr lang="en-US" dirty="0"/>
              <a:t> de </a:t>
            </a:r>
            <a:r>
              <a:rPr lang="en-US" dirty="0" err="1"/>
              <a:t>alerta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5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BAB03-8BED-E005-69C3-94D335EB3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8337"/>
            <a:ext cx="5157787" cy="858906"/>
          </a:xfrm>
        </p:spPr>
        <p:txBody>
          <a:bodyPr/>
          <a:lstStyle/>
          <a:p>
            <a:r>
              <a:rPr lang="en-US" dirty="0" err="1"/>
              <a:t>Configuratie</a:t>
            </a:r>
            <a:r>
              <a:rPr lang="en-US" dirty="0"/>
              <a:t> Hardware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760A4E-E714-DA44-0C02-E82A514600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89856" y="2622550"/>
            <a:ext cx="4057650" cy="267652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B9C1D7-1262-850D-672D-E67F25F0F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668337"/>
            <a:ext cx="5183188" cy="858906"/>
          </a:xfrm>
        </p:spPr>
        <p:txBody>
          <a:bodyPr/>
          <a:lstStyle/>
          <a:p>
            <a:r>
              <a:rPr lang="en-US" dirty="0" err="1"/>
              <a:t>Configuratie</a:t>
            </a:r>
            <a:r>
              <a:rPr lang="en-US" dirty="0"/>
              <a:t> Software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64D583B-B2A8-66D5-101D-036B9C3032C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20657" y="2512489"/>
            <a:ext cx="4393777" cy="283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5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B83D-CB53-8F79-E139-D2F6B6CF1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406"/>
            <a:ext cx="10515600" cy="821649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Functional Testing</a:t>
            </a:r>
            <a:br>
              <a:rPr lang="en-US" dirty="0"/>
            </a:br>
            <a:r>
              <a:rPr lang="en-US" sz="2700" b="1" i="0" dirty="0">
                <a:effectLst/>
                <a:latin typeface="-apple-system"/>
              </a:rPr>
              <a:t>1. </a:t>
            </a:r>
            <a:r>
              <a:rPr lang="en-US" sz="2700" b="1" i="0" dirty="0" err="1">
                <a:effectLst/>
                <a:latin typeface="-apple-system"/>
              </a:rPr>
              <a:t>Partitionare</a:t>
            </a:r>
            <a:r>
              <a:rPr lang="en-US" sz="2700" b="1" i="0" dirty="0">
                <a:effectLst/>
                <a:latin typeface="-apple-system"/>
              </a:rPr>
              <a:t> in </a:t>
            </a:r>
            <a:r>
              <a:rPr lang="en-US" sz="2700" b="1" i="0" dirty="0" err="1">
                <a:effectLst/>
                <a:latin typeface="-apple-system"/>
              </a:rPr>
              <a:t>clase</a:t>
            </a:r>
            <a:r>
              <a:rPr lang="en-US" sz="2700" b="1" i="0" dirty="0">
                <a:effectLst/>
                <a:latin typeface="-apple-system"/>
              </a:rPr>
              <a:t> de </a:t>
            </a:r>
            <a:r>
              <a:rPr lang="en-US" sz="2700" b="1" i="0" dirty="0" err="1">
                <a:effectLst/>
                <a:latin typeface="-apple-system"/>
              </a:rPr>
              <a:t>echivalenta</a:t>
            </a:r>
            <a:b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7D643-FC15-CD43-F364-E28521A12B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391055"/>
                <a:ext cx="5181600" cy="4785908"/>
              </a:xfrm>
            </p:spPr>
            <p:txBody>
              <a:bodyPr>
                <a:normAutofit fontScale="47500" lnSpcReduction="20000"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Domeniul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intrarilor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temperatures </a:t>
                </a:r>
                <a14:m>
                  <m:oMath xmlns:m="http://schemas.openxmlformats.org/officeDocument/2006/math">
                    <m:r>
                      <a:rPr lang="en-US" sz="29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 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lista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de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valori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reale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exact 6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elemente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fiecare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in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intervalul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[-150, 0].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Astfel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avem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clase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de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echivalenta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pentru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lungime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si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valori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alert_threshold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9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 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valoare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reala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mai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mica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sau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egala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cu -50.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Astfel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avem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2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clase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de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echivalenta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 = </a:t>
                </a:r>
                <a14:m>
                  <m:oMath xmlns:m="http://schemas.openxmlformats.org/officeDocument/2006/math">
                    <m:d>
                      <m:dPr>
                        <m:endChr m:val="]"/>
                        <m:sepChr m:val=","/>
                        <m:ctrlPr>
                          <a:rPr lang="ar-AE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</m:oMath>
                </a14:m>
                <a:r>
                  <a:rPr lang="ar-AE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 =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9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ar-AE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>
                  <a:spcAft>
                    <a:spcPts val="1200"/>
                  </a:spcAft>
                  <a:buNone/>
                </a:pP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Domeniul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iesirilor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 Se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returneaza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un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tuplu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(media,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numar_critic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)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daca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datele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sunt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corecte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altfel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se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returneaza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un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mesaj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de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eroare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sub forma </a:t>
                </a:r>
                <a:r>
                  <a:rPr lang="en-US" sz="29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unui</a:t>
                </a:r>
                <a:r>
                  <a:rPr lang="en-US" sz="29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string.</a:t>
                </a:r>
              </a:p>
              <a:p>
                <a:pPr algn="l">
                  <a:spcAft>
                    <a:spcPts val="1200"/>
                  </a:spcAft>
                  <a:buNone/>
                </a:pPr>
                <a:r>
                  <a:rPr lang="en-US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Clasele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de </a:t>
                </a:r>
                <a:r>
                  <a:rPr lang="en-US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echivalenta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globale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astfel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obtinute</a:t>
                </a:r>
                <a:r>
                  <a:rPr lang="en-US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sunt: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𝑙𝑒𝑛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𝑣𝑎𝑙𝑜𝑟𝑖</m:t>
                            </m:r>
                          </m:e>
                        </m:d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&gt;−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𝑙𝑒𝑛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≤−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∃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∉</m:t>
                        </m:r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1500</m:t>
                            </m:r>
                          </m:e>
                        </m:d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160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...</m:t>
                            </m:r>
                          </m:e>
                        </m:d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55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𝑙𝑒𝑛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≤−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1500</m:t>
                            </m:r>
                          </m:e>
                        </m:d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70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80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d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72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CCCCCC"/>
                    </a:solidFill>
                    <a:effectLst/>
                    <a:latin typeface="-apple-system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7D643-FC15-CD43-F364-E28521A12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391055"/>
                <a:ext cx="5181600" cy="4785908"/>
              </a:xfrm>
              <a:blipFill>
                <a:blip r:embed="rId2"/>
                <a:stretch>
                  <a:fillRect l="-353" t="-1401" r="-118" b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960F0C-98FE-7C6C-FF0B-99FDDB7CD9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44593" y="1391055"/>
            <a:ext cx="4636813" cy="478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3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C82D-680C-BA0C-C030-FB8153B0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290586" cy="865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Analiza </a:t>
            </a:r>
            <a:r>
              <a:rPr lang="en-US" b="1" dirty="0" err="1"/>
              <a:t>valorilor</a:t>
            </a:r>
            <a:r>
              <a:rPr lang="en-US" b="1" dirty="0"/>
              <a:t> de </a:t>
            </a:r>
            <a:r>
              <a:rPr lang="en-US" b="1" dirty="0" err="1"/>
              <a:t>frontiera</a:t>
            </a:r>
            <a:br>
              <a:rPr lang="en-US" b="1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13B607-0BB4-DC05-97C3-57C6D7CDA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2982" y="992187"/>
            <a:ext cx="4328883" cy="48736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4727B9EE-D927-7298-5EAE-61AF39B59DE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992187"/>
                <a:ext cx="6212765" cy="4876801"/>
              </a:xfrm>
            </p:spPr>
            <p:txBody>
              <a:bodyPr>
                <a:normAutofit/>
              </a:bodyPr>
              <a:lstStyle/>
              <a:p>
                <a:r>
                  <a:rPr lang="en-US" dirty="0" err="1"/>
                  <a:t>Valorile</a:t>
                </a:r>
                <a:r>
                  <a:rPr lang="en-US" dirty="0"/>
                  <a:t> de </a:t>
                </a:r>
                <a:r>
                  <a:rPr lang="en-US" dirty="0" err="1"/>
                  <a:t>frontiera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clasa</a:t>
                </a:r>
                <a:r>
                  <a:rPr lang="en-US" dirty="0"/>
                  <a:t> </a:t>
                </a:r>
                <a:r>
                  <a:rPr lang="en-US" dirty="0" err="1"/>
                  <a:t>lungimii</a:t>
                </a:r>
                <a:r>
                  <a:rPr lang="en-US" dirty="0"/>
                  <a:t> </a:t>
                </a:r>
                <a:r>
                  <a:rPr lang="en-US" dirty="0" err="1"/>
                  <a:t>listei</a:t>
                </a:r>
                <a:r>
                  <a:rPr lang="en-US" dirty="0"/>
                  <a:t> sunt: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𝐿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→</m:t>
                    </m:r>
                    <m:r>
                      <a:rPr lang="ar-AE"/>
                      <m:t>5</m:t>
                    </m:r>
                    <m:r>
                      <a:rPr lang="ar-AE"/>
                      <m:t>,</m:t>
                    </m:r>
                    <m:r>
                      <a:rPr lang="ar-AE"/>
                      <m:t>7</m:t>
                    </m:r>
                  </m:oMath>
                </a14:m>
                <a:r>
                  <a:rPr lang="ar-AE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𝐿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→</m:t>
                    </m:r>
                    <m:r>
                      <a:rPr lang="ar-AE"/>
                      <m:t>6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 err="1"/>
                  <a:t>Valorile</a:t>
                </a:r>
                <a:r>
                  <a:rPr lang="en-US" dirty="0"/>
                  <a:t> de </a:t>
                </a:r>
                <a:r>
                  <a:rPr lang="en-US" dirty="0" err="1"/>
                  <a:t>frontiera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clasa</a:t>
                </a:r>
                <a:r>
                  <a:rPr lang="en-US" dirty="0"/>
                  <a:t> </a:t>
                </a:r>
                <a:r>
                  <a:rPr lang="en-US" dirty="0" err="1"/>
                  <a:t>pragului</a:t>
                </a:r>
                <a:r>
                  <a:rPr lang="en-US" dirty="0"/>
                  <a:t> de </a:t>
                </a:r>
                <a:r>
                  <a:rPr lang="en-US" dirty="0" err="1"/>
                  <a:t>alerta</a:t>
                </a:r>
                <a:r>
                  <a:rPr lang="en-US" dirty="0"/>
                  <a:t> sunt: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𝐴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→−</m:t>
                    </m:r>
                    <m:r>
                      <a:rPr lang="ar-AE"/>
                      <m:t>50</m:t>
                    </m:r>
                    <m:r>
                      <a:rPr lang="ar-AE"/>
                      <m:t>−</m:t>
                    </m:r>
                    <m:r>
                      <a:rPr lang="ar-AE" i="1"/>
                      <m:t>𝜖</m:t>
                    </m:r>
                    <m:r>
                      <a:rPr lang="ar-AE"/>
                      <m:t>,−</m:t>
                    </m:r>
                    <m:r>
                      <a:rPr lang="ar-AE"/>
                      <m:t>50</m:t>
                    </m:r>
                  </m:oMath>
                </a14:m>
                <a:r>
                  <a:rPr lang="ar-AE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𝐴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→−</m:t>
                    </m:r>
                    <m:r>
                      <a:rPr lang="ar-AE"/>
                      <m:t>50</m:t>
                    </m:r>
                    <m:r>
                      <a:rPr lang="ar-AE"/>
                      <m:t>+</m:t>
                    </m:r>
                    <m:r>
                      <a:rPr lang="ar-AE" i="1"/>
                      <m:t>𝜖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 err="1"/>
                  <a:t>Valorile</a:t>
                </a:r>
                <a:r>
                  <a:rPr lang="en-US" dirty="0"/>
                  <a:t> de </a:t>
                </a:r>
                <a:r>
                  <a:rPr lang="en-US" dirty="0" err="1"/>
                  <a:t>frontiera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clasa</a:t>
                </a:r>
                <a:r>
                  <a:rPr lang="en-US" dirty="0"/>
                  <a:t> </a:t>
                </a:r>
                <a:r>
                  <a:rPr lang="en-US" dirty="0" err="1"/>
                  <a:t>temperaturilor</a:t>
                </a:r>
                <a:r>
                  <a:rPr lang="en-US" dirty="0"/>
                  <a:t> sunt: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𝑇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→−</m:t>
                    </m:r>
                    <m:r>
                      <a:rPr lang="ar-AE"/>
                      <m:t>150</m:t>
                    </m:r>
                    <m:r>
                      <a:rPr lang="ar-AE"/>
                      <m:t>−</m:t>
                    </m:r>
                    <m:r>
                      <a:rPr lang="ar-AE" i="1"/>
                      <m:t>𝜖</m:t>
                    </m:r>
                    <m:r>
                      <a:rPr lang="ar-AE"/>
                      <m:t>,−</m:t>
                    </m:r>
                    <m:r>
                      <a:rPr lang="ar-AE"/>
                      <m:t>150</m:t>
                    </m:r>
                    <m:r>
                      <a:rPr lang="ar-AE"/>
                      <m:t>,−</m:t>
                    </m:r>
                    <m:r>
                      <a:rPr lang="ar-AE"/>
                      <m:t>150</m:t>
                    </m:r>
                    <m:r>
                      <a:rPr lang="ar-AE"/>
                      <m:t>+</m:t>
                    </m:r>
                    <m:r>
                      <a:rPr lang="ar-AE" i="1"/>
                      <m:t>𝜖</m:t>
                    </m:r>
                  </m:oMath>
                </a14:m>
                <a:r>
                  <a:rPr lang="ar-AE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𝑇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→−</m:t>
                    </m:r>
                    <m:r>
                      <a:rPr lang="ar-AE" i="1"/>
                      <m:t>𝜖</m:t>
                    </m:r>
                    <m:r>
                      <a:rPr lang="ar-AE"/>
                      <m:t>,</m:t>
                    </m:r>
                    <m:r>
                      <a:rPr lang="ar-AE"/>
                      <m:t>0</m:t>
                    </m:r>
                    <m:r>
                      <a:rPr lang="ar-AE"/>
                      <m:t>,+</m:t>
                    </m:r>
                    <m:r>
                      <a:rPr lang="ar-AE" i="1"/>
                      <m:t>𝜖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 err="1"/>
                  <a:t>Astfel</a:t>
                </a:r>
                <a:r>
                  <a:rPr lang="en-US" dirty="0"/>
                  <a:t>, </a:t>
                </a:r>
                <a:r>
                  <a:rPr lang="en-US" dirty="0" err="1"/>
                  <a:t>avem</a:t>
                </a:r>
                <a:r>
                  <a:rPr lang="en-US" dirty="0"/>
                  <a:t> </a:t>
                </a:r>
                <a:r>
                  <a:rPr lang="en-US" dirty="0" err="1"/>
                  <a:t>urmatoarele</a:t>
                </a:r>
                <a:r>
                  <a:rPr lang="en-US" dirty="0"/>
                  <a:t> teste: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𝐸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𝑞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→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𝑙𝑢𝑛𝑔𝑖𝑚𝑒</m:t>
                        </m:r>
                        <m:r>
                          <a:rPr lang="ar-AE"/>
                          <m:t>≠</m:t>
                        </m:r>
                        <m:r>
                          <a:rPr lang="ar-AE"/>
                          <m:t>6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ar-AE" i="1"/>
                      <m:t>𝐸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𝑞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→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𝑝𝑟𝑎𝑔</m:t>
                        </m:r>
                        <m:r>
                          <a:rPr lang="ar-AE"/>
                          <m:t>&gt;−</m:t>
                        </m:r>
                        <m:r>
                          <a:rPr lang="ar-AE"/>
                          <m:t>50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ar-AE" i="1"/>
                      <m:t>𝐸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𝑞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  <m:r>
                      <a:rPr lang="ar-AE"/>
                      <m:t>→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𝑡𝑒𝑚𝑝𝑒𝑟𝑎𝑡𝑢𝑟𝑖𝑖𝑛𝑣𝑎𝑙𝑖𝑑𝑒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ar-AE" i="1"/>
                      <m:t>𝐸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𝑞</m:t>
                        </m:r>
                      </m:e>
                      <m:sub>
                        <m:r>
                          <a:rPr lang="ar-AE"/>
                          <m:t>4</m:t>
                        </m:r>
                      </m:sub>
                    </m:sSub>
                    <m:r>
                      <a:rPr lang="ar-AE"/>
                      <m:t>→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𝑣𝑎𝑙𝑜𝑟𝑖𝑣𝑎𝑙𝑖𝑑𝑒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4727B9EE-D927-7298-5EAE-61AF39B59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992187"/>
                <a:ext cx="6212765" cy="4876801"/>
              </a:xfrm>
              <a:blipFill>
                <a:blip r:embed="rId3"/>
                <a:stretch>
                  <a:fillRect l="-589" t="-875" b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96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57C7-4A90-9109-9B6B-1BEB21F7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5603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Category Partitioning</a:t>
            </a:r>
            <a:br>
              <a:rPr lang="en-US" b="1" dirty="0"/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A52A173-0E2C-3A5C-9AB1-D9AE835DA0B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085" b="2085"/>
          <a:stretch/>
        </p:blipFill>
        <p:spPr>
          <a:xfrm>
            <a:off x="6770688" y="987425"/>
            <a:ext cx="4584700" cy="48736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09D53FD-6286-4666-A0B0-425DF3FE01D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1167319"/>
                <a:ext cx="5668016" cy="470166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err="1"/>
                  <a:t>Descompune</a:t>
                </a:r>
                <a:r>
                  <a:rPr lang="en-US" dirty="0"/>
                  <a:t> </a:t>
                </a:r>
                <a:r>
                  <a:rPr lang="en-US" dirty="0" err="1"/>
                  <a:t>specificatia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</a:t>
                </a:r>
                <a:r>
                  <a:rPr lang="en-US" dirty="0" err="1"/>
                  <a:t>unități</a:t>
                </a:r>
                <a:r>
                  <a:rPr lang="en-US" dirty="0"/>
                  <a:t>: </a:t>
                </a:r>
                <a:r>
                  <a:rPr lang="en-US" dirty="0" err="1"/>
                  <a:t>avem</a:t>
                </a:r>
                <a:r>
                  <a:rPr lang="en-US" dirty="0"/>
                  <a:t> o </a:t>
                </a:r>
                <a:r>
                  <a:rPr lang="en-US" dirty="0" err="1"/>
                  <a:t>singură</a:t>
                </a:r>
                <a:r>
                  <a:rPr lang="en-US" dirty="0"/>
                  <a:t> </a:t>
                </a:r>
                <a:r>
                  <a:rPr lang="en-US" dirty="0" err="1"/>
                  <a:t>unitate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Identifică</a:t>
                </a:r>
                <a:r>
                  <a:rPr lang="en-US" dirty="0"/>
                  <a:t> </a:t>
                </a:r>
                <a:r>
                  <a:rPr lang="en-US" dirty="0" err="1"/>
                  <a:t>parametrii</a:t>
                </a:r>
                <a:r>
                  <a:rPr lang="en-US" dirty="0"/>
                  <a:t>: temperatures (t), </a:t>
                </a:r>
                <a:r>
                  <a:rPr lang="en-US" dirty="0" err="1"/>
                  <a:t>alert_threshold</a:t>
                </a:r>
                <a:r>
                  <a:rPr lang="en-US" dirty="0"/>
                  <a:t> (a).</a:t>
                </a:r>
              </a:p>
              <a:p>
                <a:r>
                  <a:rPr lang="en-US" dirty="0" err="1"/>
                  <a:t>Categorii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t </a:t>
                </a:r>
                <a14:m>
                  <m:oMath xmlns:m="http://schemas.openxmlformats.org/officeDocument/2006/math">
                    <m:r>
                      <a:rPr lang="en-US"/>
                      <m:t>→</m:t>
                    </m:r>
                  </m:oMath>
                </a14:m>
                <a:r>
                  <a:rPr lang="en-US" dirty="0"/>
                  <a:t> </a:t>
                </a:r>
                <a:r>
                  <a:rPr lang="en-US" dirty="0" err="1"/>
                  <a:t>daca</a:t>
                </a:r>
                <a:r>
                  <a:rPr lang="en-US" dirty="0"/>
                  <a:t> </a:t>
                </a:r>
                <a:r>
                  <a:rPr lang="en-US" dirty="0" err="1"/>
                  <a:t>lista</a:t>
                </a:r>
                <a:r>
                  <a:rPr lang="en-US" dirty="0"/>
                  <a:t> are exact 6 </a:t>
                </a:r>
                <a:r>
                  <a:rPr lang="en-US" dirty="0" err="1"/>
                  <a:t>elemente</a:t>
                </a:r>
                <a:r>
                  <a:rPr lang="en-US" dirty="0"/>
                  <a:t> </a:t>
                </a:r>
                <a:r>
                  <a:rPr lang="en-US" dirty="0" err="1"/>
                  <a:t>si</a:t>
                </a:r>
                <a:r>
                  <a:rPr lang="en-US" dirty="0"/>
                  <a:t> </a:t>
                </a:r>
                <a:r>
                  <a:rPr lang="en-US" dirty="0" err="1"/>
                  <a:t>toate</a:t>
                </a:r>
                <a:r>
                  <a:rPr lang="en-US" dirty="0"/>
                  <a:t> in [-150, 0].</a:t>
                </a:r>
              </a:p>
              <a:p>
                <a:pPr lvl="1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/>
                      <m:t>→</m:t>
                    </m:r>
                  </m:oMath>
                </a14:m>
                <a:r>
                  <a:rPr lang="en-US" dirty="0"/>
                  <a:t> </a:t>
                </a:r>
                <a:r>
                  <a:rPr lang="en-US" dirty="0" err="1"/>
                  <a:t>daca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&lt;= -50.</a:t>
                </a:r>
              </a:p>
              <a:p>
                <a:r>
                  <a:rPr lang="en-US" dirty="0" err="1"/>
                  <a:t>Partiționeaza</a:t>
                </a:r>
                <a:r>
                  <a:rPr lang="en-US" dirty="0"/>
                  <a:t> </a:t>
                </a:r>
                <a:r>
                  <a:rPr lang="en-US" dirty="0" err="1"/>
                  <a:t>fiecare</a:t>
                </a:r>
                <a:r>
                  <a:rPr lang="en-US" dirty="0"/>
                  <a:t> </a:t>
                </a:r>
                <a:r>
                  <a:rPr lang="en-US" dirty="0" err="1"/>
                  <a:t>categorie</a:t>
                </a:r>
                <a:r>
                  <a:rPr lang="en-US" dirty="0"/>
                  <a:t> </a:t>
                </a:r>
                <a:r>
                  <a:rPr lang="en-US" dirty="0" err="1"/>
                  <a:t>în</a:t>
                </a:r>
                <a:r>
                  <a:rPr lang="en-US" dirty="0"/>
                  <a:t> alternative:</a:t>
                </a:r>
              </a:p>
              <a:p>
                <a:pPr lvl="1"/>
                <a:r>
                  <a:rPr lang="en-US" dirty="0"/>
                  <a:t>t: </a:t>
                </a:r>
                <a:r>
                  <a:rPr lang="en-US" dirty="0" err="1"/>
                  <a:t>lungime</a:t>
                </a:r>
                <a:r>
                  <a:rPr lang="en-US" dirty="0"/>
                  <a:t> !=6, </a:t>
                </a:r>
                <a:r>
                  <a:rPr lang="en-US" dirty="0" err="1"/>
                  <a:t>lungime</a:t>
                </a:r>
                <a:r>
                  <a:rPr lang="en-US" dirty="0"/>
                  <a:t>=6 </a:t>
                </a:r>
                <a:r>
                  <a:rPr lang="en-US" dirty="0" err="1"/>
                  <a:t>dar</a:t>
                </a:r>
                <a:r>
                  <a:rPr lang="en-US" dirty="0"/>
                  <a:t> </a:t>
                </a:r>
                <a:r>
                  <a:rPr lang="en-US" dirty="0" err="1"/>
                  <a:t>valori</a:t>
                </a:r>
                <a:r>
                  <a:rPr lang="en-US" dirty="0"/>
                  <a:t> </a:t>
                </a:r>
                <a:r>
                  <a:rPr lang="en-US" dirty="0" err="1"/>
                  <a:t>invalide</a:t>
                </a:r>
                <a:r>
                  <a:rPr lang="en-US" dirty="0"/>
                  <a:t>, </a:t>
                </a:r>
                <a:r>
                  <a:rPr lang="en-US" dirty="0" err="1"/>
                  <a:t>lungime</a:t>
                </a:r>
                <a:r>
                  <a:rPr lang="en-US" dirty="0"/>
                  <a:t>=6 </a:t>
                </a:r>
                <a:r>
                  <a:rPr lang="en-US" dirty="0" err="1"/>
                  <a:t>si</a:t>
                </a:r>
                <a:r>
                  <a:rPr lang="en-US" dirty="0"/>
                  <a:t> </a:t>
                </a:r>
                <a:r>
                  <a:rPr lang="en-US" dirty="0" err="1"/>
                  <a:t>valori</a:t>
                </a:r>
                <a:r>
                  <a:rPr lang="en-US" dirty="0"/>
                  <a:t> </a:t>
                </a:r>
                <a:r>
                  <a:rPr lang="en-US" dirty="0" err="1"/>
                  <a:t>valide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a: &gt; -50, &lt;= -50.</a:t>
                </a:r>
              </a:p>
              <a:p>
                <a:r>
                  <a:rPr lang="en-US" dirty="0" err="1"/>
                  <a:t>Scrie</a:t>
                </a:r>
                <a:r>
                  <a:rPr lang="en-US" dirty="0"/>
                  <a:t> </a:t>
                </a:r>
                <a:r>
                  <a:rPr lang="en-US" dirty="0" err="1"/>
                  <a:t>specificația</a:t>
                </a:r>
                <a:r>
                  <a:rPr lang="en-US" dirty="0"/>
                  <a:t> de </a:t>
                </a:r>
                <a:r>
                  <a:rPr lang="en-US" dirty="0" err="1"/>
                  <a:t>testare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temperatures: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{</m:t>
                    </m:r>
                    <m:r>
                      <a:rPr lang="en-US" i="1"/>
                      <m:t>𝑡</m:t>
                    </m:r>
                    <m:d>
                      <m:dPr>
                        <m:begChr m:val="|"/>
                        <m:endChr m:val="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𝑙𝑒𝑛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𝑡</m:t>
                            </m:r>
                          </m:e>
                        </m:d>
                        <m:r>
                          <a:rPr lang="ar-AE"/>
                          <m:t>≠</m:t>
                        </m:r>
                        <m:r>
                          <a:rPr lang="ar-AE"/>
                          <m:t>6</m:t>
                        </m:r>
                        <m:r>
                          <a:rPr lang="ar-AE"/>
                          <m:t>}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i="1"/>
                      <m:t>𝑙𝑒𝑛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6</m:t>
                    </m:r>
                  </m:oMath>
                </a14:m>
                <a:r>
                  <a:rPr lang="ar-AE" dirty="0"/>
                  <a:t> </a:t>
                </a:r>
                <a:r>
                  <a:rPr lang="en-US" dirty="0" err="1"/>
                  <a:t>si</a:t>
                </a:r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/>
                      <m:t>∃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𝑡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∉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−</m:t>
                        </m:r>
                      </m:e>
                      <m:e>
                        <m:r>
                          <a:rPr lang="ar-AE"/>
                          <m:t>1500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i="1"/>
                      <m:t>𝑙𝑒𝑛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𝑡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6</m:t>
                    </m:r>
                  </m:oMath>
                </a14:m>
                <a:r>
                  <a:rPr lang="ar-AE" dirty="0"/>
                  <a:t> </a:t>
                </a:r>
                <a:r>
                  <a:rPr lang="en-US" dirty="0" err="1"/>
                  <a:t>si</a:t>
                </a:r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/>
                      <m:t>∀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𝑡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−</m:t>
                        </m:r>
                      </m:e>
                      <m:e>
                        <m:r>
                          <a:rPr lang="ar-AE"/>
                          <m:t>1500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lvl="1"/>
                <a:r>
                  <a:rPr lang="en-US" dirty="0" err="1"/>
                  <a:t>alert_threshold</a:t>
                </a:r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  <m:r>
                      <a:rPr lang="en-US"/>
                      <m:t>&gt;−</m:t>
                    </m:r>
                    <m:r>
                      <a:rPr lang="en-US"/>
                      <m:t>50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𝑎</m:t>
                    </m:r>
                    <m:r>
                      <a:rPr lang="en-US"/>
                      <m:t>≤−</m:t>
                    </m:r>
                    <m:r>
                      <a:rPr lang="en-US"/>
                      <m:t>50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Se </a:t>
                </a:r>
                <a:r>
                  <a:rPr lang="en-US" dirty="0" err="1"/>
                  <a:t>observa</a:t>
                </a:r>
                <a:r>
                  <a:rPr lang="en-US" dirty="0"/>
                  <a:t> ca </a:t>
                </a:r>
                <a:r>
                  <a:rPr lang="en-US" dirty="0" err="1"/>
                  <a:t>pentru</a:t>
                </a:r>
                <a:r>
                  <a:rPr lang="en-US" dirty="0"/>
                  <a:t> a </a:t>
                </a:r>
                <a:r>
                  <a:rPr lang="en-US" dirty="0" err="1"/>
                  <a:t>testa</a:t>
                </a:r>
                <a:r>
                  <a:rPr lang="en-US" dirty="0"/>
                  <a:t> </a:t>
                </a:r>
                <a:r>
                  <a:rPr lang="en-US" dirty="0" err="1"/>
                  <a:t>toate</a:t>
                </a:r>
                <a:r>
                  <a:rPr lang="en-US" dirty="0"/>
                  <a:t> </a:t>
                </a:r>
                <a:r>
                  <a:rPr lang="en-US" dirty="0" err="1"/>
                  <a:t>categoriile</a:t>
                </a:r>
                <a:r>
                  <a:rPr lang="en-US" dirty="0"/>
                  <a:t> </a:t>
                </a:r>
                <a:r>
                  <a:rPr lang="en-US" dirty="0" err="1"/>
                  <a:t>vom</a:t>
                </a:r>
                <a:r>
                  <a:rPr lang="en-US" dirty="0"/>
                  <a:t> </a:t>
                </a:r>
                <a:r>
                  <a:rPr lang="en-US" dirty="0" err="1"/>
                  <a:t>avea</a:t>
                </a:r>
                <a:r>
                  <a:rPr lang="en-US" dirty="0"/>
                  <a:t> </a:t>
                </a:r>
                <a:r>
                  <a:rPr lang="en-US" dirty="0" err="1"/>
                  <a:t>nevoie</a:t>
                </a:r>
                <a:r>
                  <a:rPr lang="en-US" dirty="0"/>
                  <a:t> de 3 </a:t>
                </a:r>
                <a14:m>
                  <m:oMath xmlns:m="http://schemas.openxmlformats.org/officeDocument/2006/math">
                    <m:r>
                      <a:rPr lang="en-US"/>
                      <m:t>⋅</m:t>
                    </m:r>
                  </m:oMath>
                </a14:m>
                <a:r>
                  <a:rPr lang="en-US" dirty="0"/>
                  <a:t> 2 = 6 teste.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09D53FD-6286-4666-A0B0-425DF3FE0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1167319"/>
                <a:ext cx="5668016" cy="4701669"/>
              </a:xfrm>
              <a:blipFill>
                <a:blip r:embed="rId3"/>
                <a:stretch>
                  <a:fillRect l="-430" t="-648" r="-108" b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06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E812-5AAE-B6D8-D595-C62498D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Structural Testing</a:t>
            </a:r>
            <a:br>
              <a:rPr lang="en-US" b="1" dirty="0"/>
            </a:br>
            <a:r>
              <a:rPr lang="en-US" b="1" dirty="0"/>
              <a:t>4. Statement Testing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94E97-35E3-BB15-5B50-D998630CC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 dirty="0"/>
              <a:t>Verificam daca fiecare instructiune din cod a fost executata cel putin o data.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1D56A0C-359B-0E83-E43C-E9D81CE808A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840" r="7840"/>
          <a:stretch/>
        </p:blipFill>
        <p:spPr>
          <a:xfrm>
            <a:off x="5223752" y="987425"/>
            <a:ext cx="6131635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3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5B4A-6552-DDB6-90F6-EA95772E2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Decision Testing</a:t>
            </a:r>
            <a:br>
              <a:rPr lang="en-US" b="1" dirty="0"/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C071337-1F36-A5C7-8CFA-E52CAFF8E0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91" r="1691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B792-EA8C-6D47-E3C1-4C2368C9C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Ne </a:t>
            </a:r>
            <a:r>
              <a:rPr lang="en-US" dirty="0" err="1"/>
              <a:t>siguram</a:t>
            </a:r>
            <a:r>
              <a:rPr lang="en-US" dirty="0"/>
              <a:t> ca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evaluat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ro-RO" dirty="0" err="1">
                <a:solidFill>
                  <a:srgbClr val="1F2328"/>
                </a:solidFill>
                <a:ea typeface="+mn-lt"/>
                <a:cs typeface="+mn-lt"/>
              </a:rPr>
              <a:t>atat</a:t>
            </a:r>
            <a:r>
              <a:rPr lang="ro-RO" dirty="0">
                <a:solidFill>
                  <a:srgbClr val="1F2328"/>
                </a:solidFill>
                <a:ea typeface="+mn-lt"/>
                <a:cs typeface="+mn-lt"/>
              </a:rPr>
              <a:t> pentru </a:t>
            </a:r>
            <a:r>
              <a:rPr lang="ro-RO" dirty="0" err="1">
                <a:solidFill>
                  <a:srgbClr val="1F2328"/>
                </a:solidFill>
                <a:ea typeface="+mn-lt"/>
                <a:cs typeface="+mn-lt"/>
              </a:rPr>
              <a:t>conditia</a:t>
            </a:r>
            <a:r>
              <a:rPr lang="ro-RO" dirty="0">
                <a:solidFill>
                  <a:srgbClr val="1F2328"/>
                </a:solidFill>
                <a:ea typeface="+mn-lt"/>
                <a:cs typeface="+mn-lt"/>
              </a:rPr>
              <a:t> </a:t>
            </a:r>
            <a:r>
              <a:rPr lang="ro-RO" dirty="0" err="1">
                <a:solidFill>
                  <a:srgbClr val="1F2328"/>
                </a:solidFill>
                <a:ea typeface="+mn-lt"/>
                <a:cs typeface="+mn-lt"/>
              </a:rPr>
              <a:t>adevarata</a:t>
            </a:r>
            <a:r>
              <a:rPr lang="ro-RO" dirty="0">
                <a:solidFill>
                  <a:srgbClr val="1F2328"/>
                </a:solidFill>
                <a:ea typeface="+mn-lt"/>
                <a:cs typeface="+mn-lt"/>
              </a:rPr>
              <a:t>, cat si pentru cea falsa.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64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325C-9DE8-1030-F842-D209B72A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3200" b="1" dirty="0"/>
              <a:t>6. Condition Testing</a:t>
            </a:r>
            <a:br>
              <a:rPr lang="it-IT" sz="1200" b="1" dirty="0"/>
            </a:br>
            <a:br>
              <a:rPr lang="it-IT" sz="1200" b="1" dirty="0"/>
            </a:br>
            <a:r>
              <a:rPr lang="it-IT" sz="2200" dirty="0"/>
              <a:t>Se concentreaza pe evaluarea fiecarei conditii individuale.</a:t>
            </a:r>
            <a:br>
              <a:rPr lang="it-IT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57DAD3-A970-5528-E79B-592AF2B6F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462" y="1997060"/>
            <a:ext cx="7331075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7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9677-353A-617D-DEA5-643DE500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36" y="457200"/>
            <a:ext cx="4489890" cy="603115"/>
          </a:xfrm>
        </p:spPr>
        <p:txBody>
          <a:bodyPr>
            <a:normAutofit/>
          </a:bodyPr>
          <a:lstStyle/>
          <a:p>
            <a:r>
              <a:rPr lang="en-US" b="1" dirty="0"/>
              <a:t>7. Circuit Coverage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83E6A-CEAC-FF09-05F6-F4DDCE38A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2135" y="1215957"/>
            <a:ext cx="5155627" cy="4653031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 err="1"/>
              <a:t>Identificam</a:t>
            </a:r>
            <a:r>
              <a:rPr lang="en-US" sz="1800" dirty="0"/>
              <a:t> </a:t>
            </a:r>
            <a:r>
              <a:rPr lang="en-US" sz="1800" dirty="0" err="1"/>
              <a:t>setul</a:t>
            </a:r>
            <a:r>
              <a:rPr lang="en-US" sz="1800" dirty="0"/>
              <a:t> de </a:t>
            </a:r>
            <a:r>
              <a:rPr lang="en-US" sz="1800" dirty="0" err="1"/>
              <a:t>cai</a:t>
            </a:r>
            <a:r>
              <a:rPr lang="en-US" sz="1800" dirty="0"/>
              <a:t> </a:t>
            </a:r>
            <a:r>
              <a:rPr lang="en-US" sz="1800" dirty="0" err="1"/>
              <a:t>liniar</a:t>
            </a:r>
            <a:r>
              <a:rPr lang="en-US" sz="1800" dirty="0"/>
              <a:t> </a:t>
            </a:r>
            <a:r>
              <a:rPr lang="en-US" sz="1800" dirty="0" err="1"/>
              <a:t>independente</a:t>
            </a:r>
            <a:r>
              <a:rPr lang="en-US" sz="1800" dirty="0"/>
              <a:t> (</a:t>
            </a:r>
            <a:r>
              <a:rPr lang="en-US" sz="1800" dirty="0" err="1"/>
              <a:t>circuitelor</a:t>
            </a:r>
            <a:r>
              <a:rPr lang="en-US" sz="1800" dirty="0"/>
              <a:t>)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functia</a:t>
            </a:r>
            <a:r>
              <a:rPr lang="en-US" sz="1800" dirty="0"/>
              <a:t> </a:t>
            </a:r>
            <a:r>
              <a:rPr lang="en-US" sz="1800" dirty="0" err="1"/>
              <a:t>analyze_status</a:t>
            </a:r>
            <a:r>
              <a:rPr lang="en-US" sz="1800" dirty="0"/>
              <a:t> pe </a:t>
            </a:r>
            <a:r>
              <a:rPr lang="en-US" sz="1800" dirty="0" err="1"/>
              <a:t>baza</a:t>
            </a:r>
            <a:r>
              <a:rPr lang="en-US" sz="1800" dirty="0"/>
              <a:t> </a:t>
            </a:r>
            <a:r>
              <a:rPr lang="en-US" sz="1800" dirty="0" err="1"/>
              <a:t>grafului</a:t>
            </a:r>
            <a:r>
              <a:rPr lang="en-US" sz="1800" dirty="0"/>
              <a:t> de control-flow. </a:t>
            </a:r>
            <a:r>
              <a:rPr lang="en-US" sz="1800" dirty="0" err="1"/>
              <a:t>Adaugand</a:t>
            </a:r>
            <a:r>
              <a:rPr lang="en-US" sz="1800" dirty="0"/>
              <a:t> </a:t>
            </a:r>
            <a:r>
              <a:rPr lang="en-US" sz="1800" dirty="0" err="1"/>
              <a:t>arcele</a:t>
            </a:r>
            <a:r>
              <a:rPr lang="en-US" sz="1800" dirty="0"/>
              <a:t> </a:t>
            </a:r>
            <a:r>
              <a:rPr lang="en-US" sz="1800" dirty="0" err="1"/>
              <a:t>necesare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a </a:t>
            </a:r>
            <a:r>
              <a:rPr lang="en-US" sz="1800" dirty="0" err="1"/>
              <a:t>obtine</a:t>
            </a:r>
            <a:r>
              <a:rPr lang="en-US" sz="1800" dirty="0"/>
              <a:t> un </a:t>
            </a:r>
            <a:r>
              <a:rPr lang="en-US" sz="1800" dirty="0" err="1"/>
              <a:t>graf</a:t>
            </a:r>
            <a:r>
              <a:rPr lang="en-US" sz="1800" dirty="0"/>
              <a:t> </a:t>
            </a:r>
            <a:r>
              <a:rPr lang="en-US" sz="1800" dirty="0" err="1"/>
              <a:t>complet</a:t>
            </a:r>
            <a:r>
              <a:rPr lang="en-US" sz="1800" dirty="0"/>
              <a:t> </a:t>
            </a:r>
            <a:r>
              <a:rPr lang="en-US" sz="1800" dirty="0" err="1"/>
              <a:t>conectat</a:t>
            </a:r>
            <a:r>
              <a:rPr lang="en-US" sz="1800" dirty="0"/>
              <a:t>, </a:t>
            </a:r>
            <a:r>
              <a:rPr lang="en-US" sz="1800" dirty="0" err="1"/>
              <a:t>obtinem</a:t>
            </a:r>
            <a:r>
              <a:rPr lang="en-US" sz="1800" dirty="0"/>
              <a:t> </a:t>
            </a:r>
            <a:r>
              <a:rPr lang="en-US" sz="1800" dirty="0" err="1"/>
              <a:t>urmatoarele</a:t>
            </a:r>
            <a:r>
              <a:rPr lang="en-US" sz="1800" dirty="0"/>
              <a:t> </a:t>
            </a:r>
            <a:r>
              <a:rPr lang="en-US" sz="1800" dirty="0" err="1"/>
              <a:t>valori</a:t>
            </a:r>
            <a:r>
              <a:rPr lang="en-US" sz="1800" dirty="0"/>
              <a:t> (conform </a:t>
            </a:r>
            <a:r>
              <a:rPr lang="en-US" sz="1800" dirty="0" err="1"/>
              <a:t>analizei</a:t>
            </a:r>
            <a:r>
              <a:rPr lang="en-US" sz="1800" dirty="0"/>
              <a:t> din white_box_tests.py):</a:t>
            </a:r>
          </a:p>
          <a:p>
            <a:r>
              <a:rPr lang="en-US" sz="1800" dirty="0" err="1"/>
              <a:t>numarul</a:t>
            </a:r>
            <a:r>
              <a:rPr lang="en-US" sz="1800" dirty="0"/>
              <a:t> de </a:t>
            </a:r>
            <a:r>
              <a:rPr lang="en-US" sz="1800" dirty="0" err="1"/>
              <a:t>noduri</a:t>
            </a:r>
            <a:r>
              <a:rPr lang="en-US" sz="1800" dirty="0"/>
              <a:t>: n = 13</a:t>
            </a:r>
          </a:p>
          <a:p>
            <a:r>
              <a:rPr lang="en-US" sz="1800" dirty="0" err="1"/>
              <a:t>numarul</a:t>
            </a:r>
            <a:r>
              <a:rPr lang="en-US" sz="1800" dirty="0"/>
              <a:t> de </a:t>
            </a:r>
            <a:r>
              <a:rPr lang="en-US" sz="1800" dirty="0" err="1"/>
              <a:t>muchii</a:t>
            </a:r>
            <a:r>
              <a:rPr lang="en-US" sz="1800" dirty="0"/>
              <a:t>: e = 18</a:t>
            </a:r>
          </a:p>
          <a:p>
            <a:r>
              <a:rPr lang="en-US" sz="1800" dirty="0" err="1"/>
              <a:t>componente</a:t>
            </a:r>
            <a:r>
              <a:rPr lang="en-US" sz="1800" dirty="0"/>
              <a:t> </a:t>
            </a:r>
            <a:r>
              <a:rPr lang="en-US" sz="1800" dirty="0" err="1"/>
              <a:t>conexe</a:t>
            </a:r>
            <a:r>
              <a:rPr lang="en-US" sz="1800" dirty="0"/>
              <a:t>: p = 1</a:t>
            </a:r>
          </a:p>
          <a:p>
            <a:r>
              <a:rPr lang="en-US" sz="1800" dirty="0" err="1"/>
              <a:t>Folosind</a:t>
            </a:r>
            <a:r>
              <a:rPr lang="en-US" sz="1800" dirty="0"/>
              <a:t> formula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complexitatea</a:t>
            </a:r>
            <a:r>
              <a:rPr lang="en-US" sz="1800" dirty="0"/>
              <a:t> </a:t>
            </a:r>
            <a:r>
              <a:rPr lang="en-US" sz="1800" dirty="0" err="1"/>
              <a:t>ciclomatica</a:t>
            </a:r>
            <a:r>
              <a:rPr lang="en-US" sz="1800" dirty="0"/>
              <a:t> a </a:t>
            </a:r>
            <a:r>
              <a:rPr lang="en-US" sz="1800" dirty="0" err="1"/>
              <a:t>subrutinei</a:t>
            </a:r>
            <a:r>
              <a:rPr lang="en-US" sz="1800" dirty="0"/>
              <a:t> (</a:t>
            </a:r>
            <a:r>
              <a:rPr lang="en-US" sz="1800" dirty="0" err="1"/>
              <a:t>metodei</a:t>
            </a:r>
            <a:r>
              <a:rPr lang="en-US" sz="1800" dirty="0"/>
              <a:t>) </a:t>
            </a:r>
            <a:r>
              <a:rPr lang="en-US" sz="1800" dirty="0" err="1"/>
              <a:t>considerata</a:t>
            </a:r>
            <a:r>
              <a:rPr lang="en-US" sz="1800" dirty="0"/>
              <a:t> in </a:t>
            </a:r>
            <a:r>
              <a:rPr lang="en-US" sz="1800" dirty="0" err="1"/>
              <a:t>testele</a:t>
            </a:r>
            <a:r>
              <a:rPr lang="en-US" sz="1800" dirty="0"/>
              <a:t> </a:t>
            </a:r>
            <a:r>
              <a:rPr lang="en-US" sz="1800" dirty="0" err="1"/>
              <a:t>noastre</a:t>
            </a:r>
            <a:r>
              <a:rPr lang="en-US" sz="1800" dirty="0"/>
              <a:t>: V(G) = e - n + 1, </a:t>
            </a:r>
            <a:r>
              <a:rPr lang="en-US" sz="1800" dirty="0" err="1"/>
              <a:t>rezulta</a:t>
            </a:r>
            <a:r>
              <a:rPr lang="en-US" sz="1800" dirty="0"/>
              <a:t> V(G) = 18 - 13 + 1 = 6 </a:t>
            </a:r>
            <a:r>
              <a:rPr lang="en-US" sz="1800" dirty="0" err="1"/>
              <a:t>circuite</a:t>
            </a:r>
            <a:r>
              <a:rPr lang="en-US" sz="1800" dirty="0"/>
              <a:t> </a:t>
            </a:r>
            <a:r>
              <a:rPr lang="en-US" sz="1800" dirty="0" err="1"/>
              <a:t>independente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Aceste</a:t>
            </a:r>
            <a:r>
              <a:rPr lang="en-US" sz="1800" dirty="0"/>
              <a:t> 6 </a:t>
            </a:r>
            <a:r>
              <a:rPr lang="en-US" sz="1800" dirty="0" err="1"/>
              <a:t>circuite</a:t>
            </a:r>
            <a:r>
              <a:rPr lang="en-US" sz="1800" dirty="0"/>
              <a:t> (</a:t>
            </a:r>
            <a:r>
              <a:rPr lang="en-US" sz="1800" dirty="0" err="1"/>
              <a:t>descrise</a:t>
            </a:r>
            <a:r>
              <a:rPr lang="en-US" sz="1800" dirty="0"/>
              <a:t> </a:t>
            </a:r>
            <a:r>
              <a:rPr lang="en-US" sz="1800" dirty="0" err="1"/>
              <a:t>succint</a:t>
            </a:r>
            <a:r>
              <a:rPr lang="en-US" sz="1800" dirty="0"/>
              <a:t>) sunt:</a:t>
            </a:r>
          </a:p>
          <a:p>
            <a:r>
              <a:rPr lang="en-US" sz="1800" dirty="0"/>
              <a:t>Calea 1 (</a:t>
            </a:r>
            <a:r>
              <a:rPr lang="en-US" sz="1800" dirty="0" err="1"/>
              <a:t>Eroare</a:t>
            </a:r>
            <a:r>
              <a:rPr lang="en-US" sz="1800" dirty="0"/>
              <a:t> </a:t>
            </a:r>
            <a:r>
              <a:rPr lang="en-US" sz="1800" dirty="0" err="1"/>
              <a:t>lungime</a:t>
            </a:r>
            <a:r>
              <a:rPr lang="en-US" sz="1800" dirty="0"/>
              <a:t>): 1 --&gt; 2 --&gt; 1</a:t>
            </a:r>
          </a:p>
          <a:p>
            <a:r>
              <a:rPr lang="en-US" sz="1800" dirty="0"/>
              <a:t>Calea 2 (</a:t>
            </a:r>
            <a:r>
              <a:rPr lang="en-US" sz="1800" dirty="0" err="1"/>
              <a:t>Eroare</a:t>
            </a:r>
            <a:r>
              <a:rPr lang="en-US" sz="1800" dirty="0"/>
              <a:t> </a:t>
            </a:r>
            <a:r>
              <a:rPr lang="en-US" sz="1800" dirty="0" err="1"/>
              <a:t>prag</a:t>
            </a:r>
            <a:r>
              <a:rPr lang="en-US" sz="1800" dirty="0"/>
              <a:t> </a:t>
            </a:r>
            <a:r>
              <a:rPr lang="en-US" sz="1800" dirty="0" err="1"/>
              <a:t>alerta</a:t>
            </a:r>
            <a:r>
              <a:rPr lang="en-US" sz="1800" dirty="0"/>
              <a:t>): 1 --&gt; 3 --&gt; 4 --&gt; 1</a:t>
            </a:r>
          </a:p>
          <a:p>
            <a:r>
              <a:rPr lang="en-US" sz="1800" dirty="0"/>
              <a:t>Calea 3 (</a:t>
            </a:r>
            <a:r>
              <a:rPr lang="en-US" sz="1800" dirty="0" err="1"/>
              <a:t>iteratie</a:t>
            </a:r>
            <a:r>
              <a:rPr lang="en-US" sz="1800" dirty="0"/>
              <a:t> in for, </a:t>
            </a:r>
            <a:r>
              <a:rPr lang="en-US" sz="1800" dirty="0" err="1"/>
              <a:t>temperatura</a:t>
            </a:r>
            <a:r>
              <a:rPr lang="en-US" sz="1800" dirty="0"/>
              <a:t> &lt;= </a:t>
            </a:r>
            <a:r>
              <a:rPr lang="en-US" sz="1800" dirty="0" err="1"/>
              <a:t>prag</a:t>
            </a:r>
            <a:r>
              <a:rPr lang="en-US" sz="1800" dirty="0"/>
              <a:t>): 7 --&gt; 8 --&gt; 9 --&gt; 10 --&gt; 7</a:t>
            </a:r>
          </a:p>
          <a:p>
            <a:r>
              <a:rPr lang="en-US" sz="1800" dirty="0"/>
              <a:t>Calea 4 (</a:t>
            </a:r>
            <a:r>
              <a:rPr lang="en-US" sz="1800" dirty="0" err="1"/>
              <a:t>iteratie</a:t>
            </a:r>
            <a:r>
              <a:rPr lang="en-US" sz="1800" dirty="0"/>
              <a:t> in for, </a:t>
            </a:r>
            <a:r>
              <a:rPr lang="en-US" sz="1800" dirty="0" err="1"/>
              <a:t>temperatura</a:t>
            </a:r>
            <a:r>
              <a:rPr lang="en-US" sz="1800" dirty="0"/>
              <a:t> &gt; </a:t>
            </a:r>
            <a:r>
              <a:rPr lang="en-US" sz="1800" dirty="0" err="1"/>
              <a:t>prag</a:t>
            </a:r>
            <a:r>
              <a:rPr lang="en-US" sz="1800" dirty="0"/>
              <a:t>): 7 --&gt; 8 --&gt; 9 --&gt; 10 --&gt; 11 --&gt; 7</a:t>
            </a:r>
          </a:p>
          <a:p>
            <a:r>
              <a:rPr lang="en-US" sz="1800" dirty="0"/>
              <a:t>Calea 5 (</a:t>
            </a:r>
            <a:r>
              <a:rPr lang="en-US" sz="1800" dirty="0" err="1"/>
              <a:t>returneaza</a:t>
            </a:r>
            <a:r>
              <a:rPr lang="en-US" sz="1800" dirty="0"/>
              <a:t> </a:t>
            </a:r>
            <a:r>
              <a:rPr lang="en-US" sz="1800" dirty="0" err="1"/>
              <a:t>valori</a:t>
            </a:r>
            <a:r>
              <a:rPr lang="en-US" sz="1800" dirty="0"/>
              <a:t> </a:t>
            </a:r>
            <a:r>
              <a:rPr lang="en-US" sz="1800" dirty="0" err="1"/>
              <a:t>valide</a:t>
            </a:r>
            <a:r>
              <a:rPr lang="en-US" sz="1800" dirty="0"/>
              <a:t>): 1 --&gt; 3 --&gt; 5/6 --&gt; 7 --&gt; 14/15 --&gt; 16 --&gt; 1</a:t>
            </a:r>
          </a:p>
          <a:p>
            <a:r>
              <a:rPr lang="en-US" sz="1800" dirty="0"/>
              <a:t>Calea 6 (</a:t>
            </a:r>
            <a:r>
              <a:rPr lang="en-US" sz="1800" dirty="0" err="1"/>
              <a:t>eroare</a:t>
            </a:r>
            <a:r>
              <a:rPr lang="en-US" sz="1800" dirty="0"/>
              <a:t> </a:t>
            </a:r>
            <a:r>
              <a:rPr lang="en-US" sz="1800" dirty="0" err="1"/>
              <a:t>senzor</a:t>
            </a:r>
            <a:r>
              <a:rPr lang="en-US" sz="1800" dirty="0"/>
              <a:t>): 1 --&gt; 3 --&gt; 5/6 --&gt; 7 --&gt; 8 --&gt; 12/13 --&gt; 1</a:t>
            </a:r>
          </a:p>
          <a:p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BAE60E8-6F92-D648-2A70-CE8E4C3CA91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765" b="3765"/>
          <a:stretch/>
        </p:blipFill>
        <p:spPr>
          <a:xfrm>
            <a:off x="5612860" y="995363"/>
            <a:ext cx="6297005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65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45A6-89DA-5ED0-CC66-9037A786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&amp; </a:t>
            </a:r>
            <a:r>
              <a:rPr lang="en-US" dirty="0" err="1"/>
              <a:t>mutanti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69EEF0-3E20-D6C7-BBC0-1998041255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10706" y="1825625"/>
            <a:ext cx="3636587" cy="435133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DA8678-7970-D7AB-AF13-E6DA507F1A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9917" y="1825625"/>
            <a:ext cx="41461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868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Cambria Math</vt:lpstr>
      <vt:lpstr>Office Theme</vt:lpstr>
      <vt:lpstr>Testare unitara in Python </vt:lpstr>
      <vt:lpstr>Specificatie</vt:lpstr>
      <vt:lpstr>PowerPoint Presentation</vt:lpstr>
      <vt:lpstr>Functional Testing 1. Partitionare in clase de echivalenta </vt:lpstr>
      <vt:lpstr>2. Analiza valorilor de frontiera </vt:lpstr>
      <vt:lpstr>3. Category Partitioning </vt:lpstr>
      <vt:lpstr>Structural Testing 4. Statement Testing </vt:lpstr>
      <vt:lpstr>5. Decision Testing </vt:lpstr>
      <vt:lpstr>6. Condition Testing  Se concentreaza pe evaluarea fiecarei conditii individuale. </vt:lpstr>
      <vt:lpstr>7. Circuit Coverage</vt:lpstr>
      <vt:lpstr>Coverage &amp; mutanti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Irina Moise</dc:creator>
  <cp:lastModifiedBy>Irina Moise</cp:lastModifiedBy>
  <cp:revision>1</cp:revision>
  <dcterms:created xsi:type="dcterms:W3CDTF">2026-05-17T18:27:04Z</dcterms:created>
  <dcterms:modified xsi:type="dcterms:W3CDTF">2026-05-17T19:22:00Z</dcterms:modified>
</cp:coreProperties>
</file>